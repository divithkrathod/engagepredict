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9364" y="2027285"/>
            <a:ext cx="8341264" cy="3686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140" y="1578355"/>
            <a:ext cx="10980420" cy="437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0536" y="1047648"/>
            <a:ext cx="817372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4725" marR="5080" indent="-962025">
              <a:lnSpc>
                <a:spcPct val="107700"/>
              </a:lnSpc>
              <a:spcBef>
                <a:spcPts val="100"/>
              </a:spcBef>
            </a:pPr>
            <a:r>
              <a:rPr sz="2200" b="1" spc="-25" dirty="0">
                <a:latin typeface="Times New Roman"/>
                <a:cs typeface="Times New Roman"/>
              </a:rPr>
              <a:t>DEPARTMENT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COMPUTER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SCIENCE</a:t>
            </a:r>
            <a:r>
              <a:rPr sz="2200" b="1" spc="-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ENGINEERING </a:t>
            </a:r>
            <a:r>
              <a:rPr sz="2200" b="1" dirty="0">
                <a:latin typeface="Times New Roman"/>
                <a:cs typeface="Times New Roman"/>
              </a:rPr>
              <a:t>MACHINE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PROJECT</a:t>
            </a:r>
            <a:r>
              <a:rPr sz="2200" b="1" spc="-1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ASSESSMENT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6237" y="2126106"/>
            <a:ext cx="11550015" cy="7931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469640" marR="5080" indent="-3457575">
              <a:lnSpc>
                <a:spcPts val="2690"/>
              </a:lnSpc>
              <a:spcBef>
                <a:spcPts val="740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EngagePredict:</a:t>
            </a:r>
            <a:r>
              <a:rPr sz="28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Social</a:t>
            </a:r>
            <a:r>
              <a:rPr sz="2800" b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Media</a:t>
            </a:r>
            <a:r>
              <a:rPr sz="2800" b="1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Post</a:t>
            </a:r>
            <a:r>
              <a:rPr sz="2800" b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Engagement</a:t>
            </a:r>
            <a:r>
              <a:rPr sz="28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Prediction</a:t>
            </a:r>
            <a:r>
              <a:rPr sz="28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8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Supervised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sz="2800" b="1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800" b="1" spc="-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Techniques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0232" y="3276422"/>
            <a:ext cx="351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5294" y="3975887"/>
            <a:ext cx="225615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700"/>
              </a:lnSpc>
              <a:spcBef>
                <a:spcPts val="100"/>
              </a:spcBef>
            </a:pPr>
            <a:r>
              <a:rPr sz="1900" b="1" dirty="0">
                <a:latin typeface="Times New Roman"/>
                <a:cs typeface="Times New Roman"/>
              </a:rPr>
              <a:t>DIVITH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K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spc="-30" dirty="0">
                <a:latin typeface="Times New Roman"/>
                <a:cs typeface="Times New Roman"/>
              </a:rPr>
              <a:t>RATHOD </a:t>
            </a:r>
            <a:r>
              <a:rPr sz="1900" b="1" dirty="0">
                <a:latin typeface="Times New Roman"/>
                <a:cs typeface="Times New Roman"/>
              </a:rPr>
              <a:t>GAGAN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GOWDA</a:t>
            </a:r>
            <a:r>
              <a:rPr sz="1900" b="1" spc="-100" dirty="0">
                <a:latin typeface="Times New Roman"/>
                <a:cs typeface="Times New Roman"/>
              </a:rPr>
              <a:t> </a:t>
            </a:r>
            <a:r>
              <a:rPr sz="1900" b="1" spc="-50" dirty="0">
                <a:latin typeface="Times New Roman"/>
                <a:cs typeface="Times New Roman"/>
              </a:rPr>
              <a:t>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3147" y="3975887"/>
            <a:ext cx="1545590" cy="6838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900" b="1" dirty="0">
                <a:latin typeface="Times New Roman"/>
                <a:cs typeface="Times New Roman"/>
              </a:rPr>
              <a:t>:</a:t>
            </a:r>
            <a:r>
              <a:rPr sz="1900" b="1" spc="-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1BH23CS017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00" b="1" dirty="0">
                <a:latin typeface="Times New Roman"/>
                <a:cs typeface="Times New Roman"/>
              </a:rPr>
              <a:t>:</a:t>
            </a:r>
            <a:r>
              <a:rPr sz="1900" b="1" spc="-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1BH23CS020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9905" y="4964338"/>
            <a:ext cx="4551045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0455" marR="1092835" algn="ctr">
              <a:lnSpc>
                <a:spcPct val="113999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Under</a:t>
            </a:r>
            <a:r>
              <a:rPr sz="1900" b="1" spc="-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Guidance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of </a:t>
            </a:r>
            <a:r>
              <a:rPr sz="1900" b="1" dirty="0">
                <a:latin typeface="Times New Roman"/>
                <a:cs typeface="Times New Roman"/>
              </a:rPr>
              <a:t>Mrs.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Shylaja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D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spc="-50" dirty="0">
                <a:latin typeface="Times New Roman"/>
                <a:cs typeface="Times New Roman"/>
              </a:rPr>
              <a:t>N </a:t>
            </a:r>
            <a:r>
              <a:rPr sz="1900" b="1" dirty="0">
                <a:latin typeface="Times New Roman"/>
                <a:cs typeface="Times New Roman"/>
              </a:rPr>
              <a:t>Assistant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Professor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900" b="1" dirty="0">
                <a:latin typeface="Times New Roman"/>
                <a:cs typeface="Times New Roman"/>
              </a:rPr>
              <a:t>Dept.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Computer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Science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Engineering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54745"/>
            <a:ext cx="12192000" cy="1035685"/>
            <a:chOff x="0" y="54745"/>
            <a:chExt cx="12192000" cy="1035685"/>
          </a:xfrm>
        </p:grpSpPr>
        <p:sp>
          <p:nvSpPr>
            <p:cNvPr id="9" name="object 9"/>
            <p:cNvSpPr/>
            <p:nvPr/>
          </p:nvSpPr>
          <p:spPr>
            <a:xfrm>
              <a:off x="0" y="1080770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1904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9643" y="54745"/>
              <a:ext cx="1248399" cy="9847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18" y="64135"/>
              <a:ext cx="10564493" cy="952500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78133" y="1142961"/>
            <a:ext cx="931329" cy="931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6126" y="661797"/>
            <a:ext cx="4070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Times New Roman"/>
                <a:cs typeface="Times New Roman"/>
              </a:rPr>
              <a:t>INTRODUCTION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264795" algn="l"/>
              </a:tabLst>
            </a:pPr>
            <a:r>
              <a:rPr sz="2000" b="1" dirty="0">
                <a:latin typeface="Times New Roman"/>
                <a:cs typeface="Times New Roman"/>
              </a:rPr>
              <a:t>Social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online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/>
              <a:t>have</a:t>
            </a:r>
            <a:r>
              <a:rPr sz="2000" spc="-20" dirty="0"/>
              <a:t> </a:t>
            </a:r>
            <a:r>
              <a:rPr sz="2000" dirty="0"/>
              <a:t>changed</a:t>
            </a:r>
            <a:r>
              <a:rPr sz="2000" spc="-35" dirty="0"/>
              <a:t> </a:t>
            </a:r>
            <a:r>
              <a:rPr sz="2000" dirty="0"/>
              <a:t>how</a:t>
            </a:r>
            <a:r>
              <a:rPr sz="2000" spc="-20" dirty="0"/>
              <a:t> </a:t>
            </a:r>
            <a:r>
              <a:rPr sz="2000" dirty="0"/>
              <a:t>information</a:t>
            </a:r>
            <a:r>
              <a:rPr sz="2000" spc="-45" dirty="0"/>
              <a:t> </a:t>
            </a:r>
            <a:r>
              <a:rPr sz="2000" dirty="0"/>
              <a:t>is</a:t>
            </a:r>
            <a:r>
              <a:rPr sz="2000" spc="-10" dirty="0"/>
              <a:t> </a:t>
            </a:r>
            <a:r>
              <a:rPr sz="2000" dirty="0"/>
              <a:t>shared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10" dirty="0"/>
              <a:t> consumed.</a:t>
            </a:r>
            <a:endParaRPr sz="2000">
              <a:latin typeface="Times New Roman"/>
              <a:cs typeface="Times New Roman"/>
            </a:endParaRPr>
          </a:p>
          <a:p>
            <a:pPr marL="12700" marR="5080" indent="285750">
              <a:lnSpc>
                <a:spcPct val="150000"/>
              </a:lnSpc>
              <a:spcBef>
                <a:spcPts val="2195"/>
              </a:spcBef>
              <a:buFont typeface="Times New Roman"/>
              <a:buAutoNum type="arabicPeriod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engagement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(likes,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shares,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comments,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reach)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dirty="0"/>
              <a:t>is</a:t>
            </a:r>
            <a:r>
              <a:rPr sz="2000" spc="215" dirty="0"/>
              <a:t> </a:t>
            </a:r>
            <a:r>
              <a:rPr sz="2000" dirty="0"/>
              <a:t>a</a:t>
            </a:r>
            <a:r>
              <a:rPr sz="2000" spc="215" dirty="0"/>
              <a:t> </a:t>
            </a:r>
            <a:r>
              <a:rPr sz="2000" dirty="0"/>
              <a:t>key</a:t>
            </a:r>
            <a:r>
              <a:rPr sz="2000" spc="215" dirty="0"/>
              <a:t> </a:t>
            </a:r>
            <a:r>
              <a:rPr sz="2000" dirty="0"/>
              <a:t>way</a:t>
            </a:r>
            <a:r>
              <a:rPr sz="2000" spc="215" dirty="0"/>
              <a:t> </a:t>
            </a:r>
            <a:r>
              <a:rPr sz="2000" dirty="0"/>
              <a:t>to</a:t>
            </a:r>
            <a:r>
              <a:rPr sz="2000" spc="225" dirty="0"/>
              <a:t> </a:t>
            </a:r>
            <a:r>
              <a:rPr sz="2000" dirty="0"/>
              <a:t>measure</a:t>
            </a:r>
            <a:r>
              <a:rPr sz="2000" spc="210" dirty="0"/>
              <a:t> </a:t>
            </a:r>
            <a:r>
              <a:rPr sz="2000" dirty="0"/>
              <a:t>how</a:t>
            </a:r>
            <a:r>
              <a:rPr sz="2000" spc="220" dirty="0"/>
              <a:t> </a:t>
            </a:r>
            <a:r>
              <a:rPr sz="2000" dirty="0"/>
              <a:t>audiences</a:t>
            </a:r>
            <a:r>
              <a:rPr sz="2000" spc="220" dirty="0"/>
              <a:t> </a:t>
            </a:r>
            <a:r>
              <a:rPr sz="2000" spc="-10" dirty="0"/>
              <a:t>interact </a:t>
            </a:r>
            <a:r>
              <a:rPr sz="2000" dirty="0"/>
              <a:t>with</a:t>
            </a:r>
            <a:r>
              <a:rPr sz="2000" spc="-20" dirty="0"/>
              <a:t> </a:t>
            </a:r>
            <a:r>
              <a:rPr sz="2000" spc="-10" dirty="0"/>
              <a:t>content.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  <a:buFont typeface="Times New Roman"/>
              <a:buAutoNum type="arabicPeriod"/>
            </a:pPr>
            <a:endParaRPr sz="2000"/>
          </a:p>
          <a:p>
            <a:pPr marL="264795" indent="-252095">
              <a:lnSpc>
                <a:spcPct val="100000"/>
              </a:lnSpc>
              <a:buAutoNum type="arabicPeriod"/>
              <a:tabLst>
                <a:tab pos="264795" algn="l"/>
              </a:tabLst>
            </a:pPr>
            <a:r>
              <a:rPr sz="2000" dirty="0"/>
              <a:t>Predicting</a:t>
            </a:r>
            <a:r>
              <a:rPr sz="2000" spc="-70" dirty="0"/>
              <a:t> </a:t>
            </a:r>
            <a:r>
              <a:rPr sz="2000" dirty="0"/>
              <a:t>this</a:t>
            </a:r>
            <a:r>
              <a:rPr sz="2000" spc="-35" dirty="0"/>
              <a:t> </a:t>
            </a:r>
            <a:r>
              <a:rPr sz="2000" dirty="0"/>
              <a:t>engagement</a:t>
            </a:r>
            <a:r>
              <a:rPr sz="2000" spc="-40" dirty="0"/>
              <a:t> </a:t>
            </a:r>
            <a:r>
              <a:rPr sz="2000" dirty="0"/>
              <a:t>is</a:t>
            </a:r>
            <a:r>
              <a:rPr sz="2000" spc="-25" dirty="0"/>
              <a:t> </a:t>
            </a:r>
            <a:r>
              <a:rPr sz="2000" dirty="0"/>
              <a:t>important</a:t>
            </a:r>
            <a:r>
              <a:rPr sz="2000" spc="-40" dirty="0"/>
              <a:t> </a:t>
            </a:r>
            <a:r>
              <a:rPr sz="2000" dirty="0"/>
              <a:t>for</a:t>
            </a:r>
            <a:r>
              <a:rPr sz="2000" spc="-35" dirty="0"/>
              <a:t> </a:t>
            </a:r>
            <a:r>
              <a:rPr sz="2000" b="1" dirty="0">
                <a:latin typeface="Times New Roman"/>
                <a:cs typeface="Times New Roman"/>
              </a:rPr>
              <a:t>improving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strategies.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buAutoNum type="arabicPeriod"/>
              <a:tabLst>
                <a:tab pos="260350" algn="l"/>
              </a:tabLst>
            </a:pPr>
            <a:r>
              <a:rPr sz="2000" dirty="0"/>
              <a:t>Traditional</a:t>
            </a:r>
            <a:r>
              <a:rPr sz="2000" spc="-45" dirty="0"/>
              <a:t> </a:t>
            </a:r>
            <a:r>
              <a:rPr sz="2000" dirty="0"/>
              <a:t>methods</a:t>
            </a:r>
            <a:r>
              <a:rPr sz="2000" spc="-35" dirty="0"/>
              <a:t> </a:t>
            </a:r>
            <a:r>
              <a:rPr sz="2000" dirty="0"/>
              <a:t>fail</a:t>
            </a:r>
            <a:r>
              <a:rPr sz="2000" spc="-40" dirty="0"/>
              <a:t> </a:t>
            </a:r>
            <a:r>
              <a:rPr sz="2000" dirty="0"/>
              <a:t>because</a:t>
            </a:r>
            <a:r>
              <a:rPr sz="2000" spc="-55" dirty="0"/>
              <a:t> </a:t>
            </a: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behavior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complex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non-</a:t>
            </a:r>
            <a:r>
              <a:rPr sz="2000" b="1" spc="-10" dirty="0">
                <a:latin typeface="Times New Roman"/>
                <a:cs typeface="Times New Roman"/>
              </a:rPr>
              <a:t>linear.</a:t>
            </a:r>
            <a:endParaRPr sz="2000">
              <a:latin typeface="Times New Roman"/>
              <a:cs typeface="Times New Roman"/>
            </a:endParaRPr>
          </a:p>
          <a:p>
            <a:pPr marL="12700" marR="5715" indent="258445">
              <a:lnSpc>
                <a:spcPct val="150000"/>
              </a:lnSpc>
              <a:spcBef>
                <a:spcPts val="2200"/>
              </a:spcBef>
              <a:buFont typeface="Times New Roman"/>
              <a:buAutoNum type="arabicPeriod"/>
              <a:tabLst>
                <a:tab pos="27114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Data-</a:t>
            </a:r>
            <a:r>
              <a:rPr sz="2000" b="1" dirty="0">
                <a:latin typeface="Times New Roman"/>
                <a:cs typeface="Times New Roman"/>
              </a:rPr>
              <a:t>driven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approaches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/>
              <a:t>help</a:t>
            </a:r>
            <a:r>
              <a:rPr sz="2000" spc="-25" dirty="0"/>
              <a:t> </a:t>
            </a:r>
            <a:r>
              <a:rPr sz="2000" dirty="0"/>
              <a:t>predict</a:t>
            </a:r>
            <a:r>
              <a:rPr sz="2000" spc="-15" dirty="0"/>
              <a:t> </a:t>
            </a:r>
            <a:r>
              <a:rPr sz="2000" dirty="0"/>
              <a:t>engagement</a:t>
            </a:r>
            <a:r>
              <a:rPr sz="2000" spc="-25" dirty="0"/>
              <a:t> </a:t>
            </a:r>
            <a:r>
              <a:rPr sz="2000" dirty="0"/>
              <a:t>better,</a:t>
            </a:r>
            <a:r>
              <a:rPr sz="2000" spc="-20" dirty="0"/>
              <a:t> </a:t>
            </a:r>
            <a:r>
              <a:rPr sz="2000" dirty="0"/>
              <a:t>enabling</a:t>
            </a:r>
            <a:r>
              <a:rPr sz="2000" spc="-20" dirty="0"/>
              <a:t> </a:t>
            </a:r>
            <a:r>
              <a:rPr sz="2000" dirty="0"/>
              <a:t>personalization</a:t>
            </a:r>
            <a:r>
              <a:rPr sz="2000" spc="-20" dirty="0"/>
              <a:t> </a:t>
            </a:r>
            <a:r>
              <a:rPr sz="2000" dirty="0"/>
              <a:t>and</a:t>
            </a:r>
            <a:r>
              <a:rPr sz="2000" spc="-10" dirty="0"/>
              <a:t> </a:t>
            </a:r>
            <a:r>
              <a:rPr sz="2000" dirty="0"/>
              <a:t>efficient</a:t>
            </a:r>
            <a:r>
              <a:rPr sz="2000" spc="-20" dirty="0"/>
              <a:t> </a:t>
            </a:r>
            <a:r>
              <a:rPr sz="2000" spc="-10" dirty="0"/>
              <a:t>resource </a:t>
            </a:r>
            <a:r>
              <a:rPr sz="2000" spc="-20" dirty="0"/>
              <a:t>use.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SCIENCE</a:t>
            </a:r>
            <a:r>
              <a:rPr spc="-125" dirty="0"/>
              <a:t> </a:t>
            </a:r>
            <a:r>
              <a:rPr dirty="0"/>
              <a:t>AND </a:t>
            </a:r>
            <a:r>
              <a:rPr spc="-10" dirty="0"/>
              <a:t>ENGINEERING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970" y="661797"/>
            <a:ext cx="5805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</a:t>
            </a:r>
            <a:r>
              <a:rPr sz="4000" b="1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spc="-65" dirty="0">
                <a:solidFill>
                  <a:srgbClr val="000000"/>
                </a:solidFill>
                <a:latin typeface="Times New Roman"/>
                <a:cs typeface="Times New Roman"/>
              </a:rPr>
              <a:t>STATEMENT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The  problem  objective</a:t>
            </a:r>
            <a:r>
              <a:rPr spc="5" dirty="0">
                <a:solidFill>
                  <a:srgbClr val="FF0000"/>
                </a:solidFill>
              </a:rPr>
              <a:t>  </a:t>
            </a:r>
            <a:r>
              <a:rPr dirty="0">
                <a:solidFill>
                  <a:srgbClr val="FF0000"/>
                </a:solidFill>
              </a:rPr>
              <a:t>is</a:t>
            </a:r>
            <a:r>
              <a:rPr spc="7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  </a:t>
            </a:r>
            <a:r>
              <a:rPr dirty="0"/>
              <a:t>predict</a:t>
            </a:r>
            <a:r>
              <a:rPr spc="10" dirty="0"/>
              <a:t>  </a:t>
            </a:r>
            <a:r>
              <a:rPr dirty="0"/>
              <a:t>social</a:t>
            </a:r>
            <a:r>
              <a:rPr spc="745" dirty="0"/>
              <a:t> </a:t>
            </a:r>
            <a:r>
              <a:rPr dirty="0"/>
              <a:t>media  post  </a:t>
            </a:r>
            <a:r>
              <a:rPr spc="-10" dirty="0"/>
              <a:t>engagement </a:t>
            </a:r>
            <a:r>
              <a:rPr dirty="0"/>
              <a:t>levels</a:t>
            </a:r>
            <a:r>
              <a:rPr spc="670" dirty="0"/>
              <a:t> </a:t>
            </a:r>
            <a:r>
              <a:rPr dirty="0">
                <a:solidFill>
                  <a:srgbClr val="FF0000"/>
                </a:solidFill>
              </a:rPr>
              <a:t>by</a:t>
            </a:r>
            <a:r>
              <a:rPr spc="685" dirty="0">
                <a:solidFill>
                  <a:srgbClr val="FF0000"/>
                </a:solidFill>
              </a:rPr>
              <a:t> </a:t>
            </a:r>
            <a:r>
              <a:rPr dirty="0"/>
              <a:t>analyzing</a:t>
            </a:r>
            <a:r>
              <a:rPr spc="680" dirty="0"/>
              <a:t> </a:t>
            </a:r>
            <a:r>
              <a:rPr dirty="0"/>
              <a:t>content</a:t>
            </a:r>
            <a:r>
              <a:rPr spc="685" dirty="0"/>
              <a:t> </a:t>
            </a:r>
            <a:r>
              <a:rPr dirty="0"/>
              <a:t>features</a:t>
            </a:r>
            <a:r>
              <a:rPr spc="685" dirty="0"/>
              <a:t> </a:t>
            </a:r>
            <a:r>
              <a:rPr dirty="0"/>
              <a:t>and</a:t>
            </a:r>
            <a:r>
              <a:rPr spc="675" dirty="0"/>
              <a:t> </a:t>
            </a:r>
            <a:r>
              <a:rPr dirty="0"/>
              <a:t>platform</a:t>
            </a:r>
            <a:r>
              <a:rPr spc="665" dirty="0"/>
              <a:t> </a:t>
            </a:r>
            <a:r>
              <a:rPr dirty="0"/>
              <a:t>characteristics</a:t>
            </a:r>
            <a:r>
              <a:rPr spc="695" dirty="0"/>
              <a:t> </a:t>
            </a:r>
            <a:r>
              <a:rPr spc="-25" dirty="0">
                <a:solidFill>
                  <a:srgbClr val="FF0000"/>
                </a:solidFill>
              </a:rPr>
              <a:t>in </a:t>
            </a:r>
            <a:r>
              <a:rPr dirty="0">
                <a:solidFill>
                  <a:srgbClr val="FF0000"/>
                </a:solidFill>
              </a:rPr>
              <a:t>order</a:t>
            </a:r>
            <a:r>
              <a:rPr spc="5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495" dirty="0">
                <a:solidFill>
                  <a:srgbClr val="FF0000"/>
                </a:solidFill>
              </a:rPr>
              <a:t> </a:t>
            </a:r>
            <a:r>
              <a:rPr dirty="0"/>
              <a:t>provide</a:t>
            </a:r>
            <a:r>
              <a:rPr spc="500" dirty="0"/>
              <a:t> </a:t>
            </a:r>
            <a:r>
              <a:rPr dirty="0"/>
              <a:t>actionable</a:t>
            </a:r>
            <a:r>
              <a:rPr spc="505" dirty="0"/>
              <a:t> </a:t>
            </a:r>
            <a:r>
              <a:rPr dirty="0"/>
              <a:t>recommendations</a:t>
            </a:r>
            <a:r>
              <a:rPr spc="520" dirty="0"/>
              <a:t> </a:t>
            </a:r>
            <a:r>
              <a:rPr dirty="0"/>
              <a:t>for</a:t>
            </a:r>
            <a:r>
              <a:rPr spc="490" dirty="0"/>
              <a:t> </a:t>
            </a:r>
            <a:r>
              <a:rPr dirty="0"/>
              <a:t>optimizing</a:t>
            </a:r>
            <a:r>
              <a:rPr spc="500" dirty="0"/>
              <a:t> </a:t>
            </a:r>
            <a:r>
              <a:rPr spc="-10" dirty="0"/>
              <a:t>posting </a:t>
            </a:r>
            <a:r>
              <a:rPr dirty="0"/>
              <a:t>strategies</a:t>
            </a:r>
            <a:r>
              <a:rPr spc="-6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improving</a:t>
            </a:r>
            <a:r>
              <a:rPr spc="-50" dirty="0"/>
              <a:t> </a:t>
            </a:r>
            <a:r>
              <a:rPr dirty="0"/>
              <a:t>content</a:t>
            </a:r>
            <a:r>
              <a:rPr spc="-75" dirty="0"/>
              <a:t> </a:t>
            </a:r>
            <a:r>
              <a:rPr spc="-10" dirty="0"/>
              <a:t>reach.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010" y="418922"/>
            <a:ext cx="101339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140" marR="5080" indent="-237807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SDG</a:t>
            </a:r>
            <a:r>
              <a:rPr sz="3600" b="1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9</a:t>
            </a:r>
            <a:r>
              <a:rPr sz="3600" b="1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RELEVANCE</a:t>
            </a:r>
            <a:r>
              <a:rPr sz="3600" b="1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–</a:t>
            </a:r>
            <a:r>
              <a:rPr sz="36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INDUSTRY,</a:t>
            </a:r>
            <a:r>
              <a:rPr sz="3600" b="1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INNOVATION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3600" b="1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INFRASTRUCTURE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6939" y="1819401"/>
            <a:ext cx="10360025" cy="41313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608330" algn="l"/>
                <a:tab pos="1457325" algn="l"/>
                <a:tab pos="2207260" algn="l"/>
                <a:tab pos="2801620" algn="l"/>
                <a:tab pos="4114165" algn="l"/>
                <a:tab pos="5626100" algn="l"/>
                <a:tab pos="6264910" algn="l"/>
                <a:tab pos="6536055" algn="l"/>
                <a:tab pos="7275195" algn="l"/>
                <a:tab pos="7700645" algn="l"/>
                <a:tab pos="8736965" algn="l"/>
                <a:tab pos="9980930" algn="l"/>
              </a:tabLst>
            </a:pP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aligns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Sustainable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Development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Goal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(SDG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9):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Industry,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Innovation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Infrastructure,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specifically: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2000">
              <a:latin typeface="Times New Roman"/>
              <a:cs typeface="Times New Roman"/>
            </a:endParaRPr>
          </a:p>
          <a:p>
            <a:pPr marL="238760" marR="5715" indent="-226695" algn="just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Target</a:t>
            </a:r>
            <a:r>
              <a:rPr sz="2000" b="1" dirty="0">
                <a:latin typeface="Times New Roman"/>
                <a:cs typeface="Times New Roman"/>
              </a:rPr>
              <a:t> 9.5: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 scientific research,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upgrade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technological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capabilities 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industrial </a:t>
            </a:r>
            <a:r>
              <a:rPr sz="2000" spc="-10" dirty="0">
                <a:latin typeface="Times New Roman"/>
                <a:cs typeface="Times New Roman"/>
              </a:rPr>
              <a:t>sectors 	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countries,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countries,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2030,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encouraging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innovation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	</a:t>
            </a:r>
            <a:r>
              <a:rPr sz="2000" dirty="0">
                <a:latin typeface="Times New Roman"/>
                <a:cs typeface="Times New Roman"/>
              </a:rPr>
              <a:t>substantially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workers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million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people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	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private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spending</a:t>
            </a:r>
            <a:endParaRPr sz="2000">
              <a:latin typeface="Times New Roman"/>
              <a:cs typeface="Times New Roman"/>
            </a:endParaRPr>
          </a:p>
          <a:p>
            <a:pPr marL="238760" marR="5080" indent="-226695" algn="just">
              <a:lnSpc>
                <a:spcPts val="216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Target</a:t>
            </a:r>
            <a:r>
              <a:rPr sz="2000" b="1" spc="3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9.B:</a:t>
            </a:r>
            <a:r>
              <a:rPr sz="2000" b="1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domestic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innovation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developing 	</a:t>
            </a:r>
            <a:r>
              <a:rPr sz="2000" dirty="0">
                <a:latin typeface="Times New Roman"/>
                <a:cs typeface="Times New Roman"/>
              </a:rPr>
              <a:t>countries,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conducive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policy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for,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inter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alia,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industrial 	</a:t>
            </a:r>
            <a:r>
              <a:rPr sz="2000" dirty="0">
                <a:latin typeface="Times New Roman"/>
                <a:cs typeface="Times New Roman"/>
              </a:rPr>
              <a:t>diversification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commodities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9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project</a:t>
            </a:r>
            <a:r>
              <a:rPr sz="2000" b="1" i="1" spc="28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demonstrates</a:t>
            </a:r>
            <a:r>
              <a:rPr sz="2000" b="1" i="1" spc="29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technological</a:t>
            </a:r>
            <a:r>
              <a:rPr sz="2000" b="1" i="1" spc="30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innovation</a:t>
            </a:r>
            <a:r>
              <a:rPr sz="2000" b="1" i="1" spc="3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in</a:t>
            </a:r>
            <a:r>
              <a:rPr sz="2000" b="1" i="1" spc="2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social</a:t>
            </a:r>
            <a:r>
              <a:rPr sz="2000" b="1" i="1" spc="29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media</a:t>
            </a:r>
            <a:r>
              <a:rPr sz="2000" b="1" i="1" spc="29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analytics</a:t>
            </a:r>
            <a:r>
              <a:rPr sz="2000" b="1" i="1" spc="29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28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provides</a:t>
            </a:r>
            <a:r>
              <a:rPr sz="2000" b="1" i="1" spc="29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tools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can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enhance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digital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communication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strategies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for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businesses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individuals.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60708" y="433920"/>
            <a:ext cx="931329" cy="93132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04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0" y="661797"/>
            <a:ext cx="3227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6939" y="1799590"/>
            <a:ext cx="10358755" cy="387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175" indent="-498475">
              <a:lnSpc>
                <a:spcPts val="3420"/>
              </a:lnSpc>
              <a:spcBef>
                <a:spcPts val="100"/>
              </a:spcBef>
              <a:buAutoNum type="arabicPeriod"/>
              <a:tabLst>
                <a:tab pos="511175" algn="l"/>
                <a:tab pos="1801495" algn="l"/>
                <a:tab pos="3858260" algn="l"/>
                <a:tab pos="5406390" algn="l"/>
                <a:tab pos="5937250" algn="l"/>
                <a:tab pos="7038975" algn="l"/>
                <a:tab pos="8183880" algn="l"/>
                <a:tab pos="9518650" algn="l"/>
              </a:tabLst>
            </a:pPr>
            <a:r>
              <a:rPr sz="3000" spc="-10" dirty="0">
                <a:latin typeface="Times New Roman"/>
                <a:cs typeface="Times New Roman"/>
              </a:rPr>
              <a:t>Predict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engagement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potential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social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media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content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using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ts val="3420"/>
              </a:lnSpc>
            </a:pPr>
            <a:r>
              <a:rPr sz="3000" b="1" dirty="0">
                <a:latin typeface="Times New Roman"/>
                <a:cs typeface="Times New Roman"/>
              </a:rPr>
              <a:t>machine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learning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models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6985" indent="704215">
              <a:lnSpc>
                <a:spcPts val="3240"/>
              </a:lnSpc>
              <a:buAutoNum type="arabicPeriod" startAt="2"/>
              <a:tabLst>
                <a:tab pos="716915" algn="l"/>
                <a:tab pos="2406650" algn="l"/>
                <a:tab pos="3759200" algn="l"/>
                <a:tab pos="4836160" algn="l"/>
                <a:tab pos="5699125" algn="l"/>
                <a:tab pos="7258050" algn="l"/>
                <a:tab pos="8293734" algn="l"/>
              </a:tabLst>
            </a:pPr>
            <a:r>
              <a:rPr sz="3000" spc="-10" dirty="0">
                <a:latin typeface="Times New Roman"/>
                <a:cs typeface="Times New Roman"/>
              </a:rPr>
              <a:t>Analyze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media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files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for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quality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and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optimization recommendations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95"/>
              </a:spcBef>
              <a:buFont typeface="Times New Roman"/>
              <a:buAutoNum type="arabicPeriod" startAt="2"/>
            </a:pPr>
            <a:endParaRPr sz="3000">
              <a:latin typeface="Times New Roman"/>
              <a:cs typeface="Times New Roman"/>
            </a:endParaRPr>
          </a:p>
          <a:p>
            <a:pPr marL="12700" marR="5080" indent="417195">
              <a:lnSpc>
                <a:spcPts val="3240"/>
              </a:lnSpc>
              <a:buAutoNum type="arabicPeriod" startAt="2"/>
              <a:tabLst>
                <a:tab pos="429895" algn="l"/>
              </a:tabLst>
            </a:pPr>
            <a:r>
              <a:rPr sz="3000" dirty="0">
                <a:latin typeface="Times New Roman"/>
                <a:cs typeface="Times New Roman"/>
              </a:rPr>
              <a:t>Provide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personalized,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platform-</a:t>
            </a:r>
            <a:r>
              <a:rPr sz="3000" dirty="0">
                <a:latin typeface="Times New Roman"/>
                <a:cs typeface="Times New Roman"/>
              </a:rPr>
              <a:t>specific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suggestions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improve </a:t>
            </a:r>
            <a:r>
              <a:rPr sz="3000" b="1" dirty="0">
                <a:latin typeface="Times New Roman"/>
                <a:cs typeface="Times New Roman"/>
              </a:rPr>
              <a:t>content</a:t>
            </a:r>
            <a:r>
              <a:rPr sz="3000" b="1" spc="-9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performance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97259" y="6447704"/>
            <a:ext cx="17843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1702" y="429844"/>
            <a:ext cx="47561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latin typeface="Times New Roman"/>
                <a:cs typeface="Times New Roman"/>
              </a:rPr>
              <a:t>SYSTEM</a:t>
            </a:r>
            <a:r>
              <a:rPr sz="3000" b="1" spc="-15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ARCHITECTURE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SCIENCE</a:t>
            </a:r>
            <a:r>
              <a:rPr spc="-125" dirty="0"/>
              <a:t> </a:t>
            </a:r>
            <a:r>
              <a:rPr dirty="0"/>
              <a:t>AND </a:t>
            </a:r>
            <a:r>
              <a:rPr spc="-10" dirty="0"/>
              <a:t>ENGINEERING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1018197"/>
            <a:ext cx="9906000" cy="548767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661797"/>
            <a:ext cx="10981055" cy="4989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1425">
              <a:lnSpc>
                <a:spcPct val="100000"/>
              </a:lnSpc>
              <a:spcBef>
                <a:spcPts val="95"/>
              </a:spcBef>
            </a:pPr>
            <a:r>
              <a:rPr sz="4000" b="1" spc="-35" dirty="0">
                <a:latin typeface="Times New Roman"/>
                <a:cs typeface="Times New Roman"/>
              </a:rPr>
              <a:t>TECHNIQUES</a:t>
            </a:r>
            <a:r>
              <a:rPr sz="4000" b="1" spc="-21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AND</a:t>
            </a:r>
            <a:r>
              <a:rPr sz="4000" b="1" spc="-75" dirty="0">
                <a:latin typeface="Times New Roman"/>
                <a:cs typeface="Times New Roman"/>
              </a:rPr>
              <a:t> </a:t>
            </a:r>
            <a:r>
              <a:rPr sz="4000" b="1" spc="-110" dirty="0">
                <a:latin typeface="Times New Roman"/>
                <a:cs typeface="Times New Roman"/>
              </a:rPr>
              <a:t>DATASET </a:t>
            </a:r>
            <a:r>
              <a:rPr sz="4000" b="1" spc="-20" dirty="0">
                <a:latin typeface="Times New Roman"/>
                <a:cs typeface="Times New Roman"/>
              </a:rPr>
              <a:t>USED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0"/>
              </a:spcBef>
            </a:pPr>
            <a:r>
              <a:rPr sz="1400" b="1" spc="-10" dirty="0">
                <a:latin typeface="Times New Roman"/>
                <a:cs typeface="Times New Roman"/>
              </a:rPr>
              <a:t>ML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Supervised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Learning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Techniques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Used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heavily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utilizes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primary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Supervised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engine:</a:t>
            </a:r>
            <a:endParaRPr sz="1400">
              <a:latin typeface="Times New Roman"/>
              <a:cs typeface="Times New Roman"/>
            </a:endParaRPr>
          </a:p>
          <a:p>
            <a:pPr marL="12700" marR="5080" indent="198755">
              <a:lnSpc>
                <a:spcPts val="1510"/>
              </a:lnSpc>
              <a:spcBef>
                <a:spcPts val="1019"/>
              </a:spcBef>
              <a:buFont typeface="Times New Roman"/>
              <a:buAutoNum type="arabicPeriod"/>
              <a:tabLst>
                <a:tab pos="211454" algn="l"/>
              </a:tabLst>
            </a:pPr>
            <a:r>
              <a:rPr sz="1400" b="1" dirty="0">
                <a:latin typeface="Times New Roman"/>
                <a:cs typeface="Times New Roman"/>
              </a:rPr>
              <a:t>Classification</a:t>
            </a:r>
            <a:r>
              <a:rPr sz="1400" b="1" spc="1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(Random</a:t>
            </a:r>
            <a:r>
              <a:rPr sz="1400" b="1" spc="11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Forest</a:t>
            </a:r>
            <a:r>
              <a:rPr sz="1400" b="1" spc="1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Classifier):</a:t>
            </a:r>
            <a:r>
              <a:rPr sz="1400" b="1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categorize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discrete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buckets.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Here,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dozens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distinct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tiers: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*Low,</a:t>
            </a:r>
            <a:r>
              <a:rPr sz="1400" i="1" spc="-2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Medium,</a:t>
            </a:r>
            <a:r>
              <a:rPr sz="1400" i="1" spc="-2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or</a:t>
            </a:r>
            <a:r>
              <a:rPr sz="1400" i="1" spc="-2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High*</a:t>
            </a:r>
            <a:r>
              <a:rPr sz="1400" i="1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engagement.</a:t>
            </a:r>
            <a:endParaRPr sz="1400">
              <a:latin typeface="Times New Roman"/>
              <a:cs typeface="Times New Roman"/>
            </a:endParaRPr>
          </a:p>
          <a:p>
            <a:pPr marL="12700" marR="8255" indent="205104">
              <a:lnSpc>
                <a:spcPts val="1510"/>
              </a:lnSpc>
              <a:spcBef>
                <a:spcPts val="1010"/>
              </a:spcBef>
              <a:buFont typeface="Times New Roman"/>
              <a:buAutoNum type="arabicPeriod"/>
              <a:tabLst>
                <a:tab pos="217804" algn="l"/>
              </a:tabLst>
            </a:pPr>
            <a:r>
              <a:rPr sz="1400" b="1" dirty="0">
                <a:latin typeface="Times New Roman"/>
                <a:cs typeface="Times New Roman"/>
              </a:rPr>
              <a:t>Regression</a:t>
            </a:r>
            <a:r>
              <a:rPr sz="1400" b="1" spc="1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(XGBoost</a:t>
            </a:r>
            <a:r>
              <a:rPr sz="1400" b="1" spc="1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Regressor):</a:t>
            </a:r>
            <a:r>
              <a:rPr sz="1400" b="1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forecast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exact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values.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Here,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Extreme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Gradient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Boosting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(XGBoost)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evaluates </a:t>
            </a:r>
            <a:r>
              <a:rPr sz="1400" dirty="0">
                <a:latin typeface="Times New Roman"/>
                <a:cs typeface="Times New Roman"/>
              </a:rPr>
              <a:t>behavior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continuous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specifically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*Churn</a:t>
            </a:r>
            <a:r>
              <a:rPr sz="1400" i="1" spc="-2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Probability*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percentage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(e.g.,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75%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likely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churn).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Dataset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Used</a:t>
            </a:r>
            <a:endParaRPr sz="1400">
              <a:latin typeface="Times New Roman"/>
              <a:cs typeface="Times New Roman"/>
            </a:endParaRPr>
          </a:p>
          <a:p>
            <a:pPr marL="12700" marR="7620">
              <a:lnSpc>
                <a:spcPts val="1510"/>
              </a:lnSpc>
              <a:spcBef>
                <a:spcPts val="103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utilizes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custom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synthesized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`engage_predict_dataset.csv`,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consisting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1,000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unique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interaction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records.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maps </a:t>
            </a:r>
            <a:r>
              <a:rPr sz="1400" dirty="0">
                <a:latin typeface="Times New Roman"/>
                <a:cs typeface="Times New Roman"/>
              </a:rPr>
              <a:t>directly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Pandas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DataFrame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capturing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vital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features:</a:t>
            </a:r>
            <a:endParaRPr sz="14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Demographics/Technical: </a:t>
            </a:r>
            <a:r>
              <a:rPr sz="1400" dirty="0">
                <a:latin typeface="Times New Roman"/>
                <a:cs typeface="Times New Roman"/>
              </a:rPr>
              <a:t>`user_id`,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`device_type`</a:t>
            </a:r>
            <a:endParaRPr sz="14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dirty="0">
                <a:latin typeface="Times New Roman"/>
                <a:cs typeface="Times New Roman"/>
              </a:rPr>
              <a:t>Activity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Metrics: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`session_duration_minutes`,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`pages_visited`,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`click_through_rate`</a:t>
            </a:r>
            <a:endParaRPr sz="14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dirty="0">
                <a:latin typeface="Times New Roman"/>
                <a:cs typeface="Times New Roman"/>
              </a:rPr>
              <a:t>Historical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Data: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`historical_likes`,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`historical_comments`,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`days_since_last_login`</a:t>
            </a:r>
            <a:endParaRPr sz="14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-20" dirty="0">
                <a:latin typeface="Times New Roman"/>
                <a:cs typeface="Times New Roman"/>
              </a:rPr>
              <a:t>Target Variables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ML: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`engagement_tier`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(Low/Medium/High)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`churn_probability` </a:t>
            </a:r>
            <a:r>
              <a:rPr sz="1400" dirty="0">
                <a:latin typeface="Times New Roman"/>
                <a:cs typeface="Times New Roman"/>
              </a:rPr>
              <a:t>(0.01 to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0.95).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SCIENCE</a:t>
            </a:r>
            <a:r>
              <a:rPr spc="-125" dirty="0"/>
              <a:t> </a:t>
            </a:r>
            <a:r>
              <a:rPr dirty="0"/>
              <a:t>AND </a:t>
            </a:r>
            <a:r>
              <a:rPr spc="-10" dirty="0"/>
              <a:t>ENGINEERING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07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6021" y="661797"/>
            <a:ext cx="4210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METHODOLOGY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27401" y="-5968"/>
            <a:ext cx="70491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6939" y="1646136"/>
            <a:ext cx="10358120" cy="3981218"/>
          </a:xfrm>
          <a:prstGeom prst="rect">
            <a:avLst/>
          </a:prstGeom>
        </p:spPr>
        <p:txBody>
          <a:bodyPr vert="horz" wrap="square" lIns="0" tIns="178435" rIns="0" bIns="0" rtlCol="0" anchor="t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405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Collection: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Gathering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sessions.</a:t>
            </a:r>
            <a:endParaRPr lang="en-GB" sz="2400" spc="-1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405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GB" sz="2400" b="1" spc="-10" dirty="0">
                <a:latin typeface="Times New Roman"/>
                <a:cs typeface="Times New Roman"/>
              </a:rPr>
              <a:t>D</a:t>
            </a:r>
            <a:r>
              <a:rPr sz="2400" b="1" dirty="0" err="1">
                <a:latin typeface="Times New Roman"/>
                <a:cs typeface="Times New Roman"/>
              </a:rPr>
              <a:t>ata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Preprocessing</a:t>
            </a:r>
            <a:r>
              <a:rPr sz="2400" b="1" spc="2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PCA: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handling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information,</a:t>
            </a:r>
            <a:r>
              <a:rPr lang="en-GB" sz="2400" spc="-10" dirty="0">
                <a:latin typeface="Times New Roman"/>
                <a:cs typeface="Times New Roman"/>
              </a:rPr>
              <a:t> an</a:t>
            </a:r>
            <a:r>
              <a:rPr sz="2400" dirty="0">
                <a:latin typeface="Times New Roman"/>
                <a:cs typeface="Times New Roman"/>
              </a:rPr>
              <a:t>d reducing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dimensionality.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320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GB" sz="2400" b="1" dirty="0">
                <a:latin typeface="Times New Roman"/>
                <a:cs typeface="Times New Roman"/>
              </a:rPr>
              <a:t>U</a:t>
            </a:r>
            <a:r>
              <a:rPr sz="2400" b="1" dirty="0" err="1">
                <a:latin typeface="Times New Roman"/>
                <a:cs typeface="Times New Roman"/>
              </a:rPr>
              <a:t>ser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Segmentation: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K-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groupings.</a:t>
            </a:r>
            <a:endParaRPr lang="en-GB"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320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GB" sz="2400" b="1" spc="-20" dirty="0">
                <a:latin typeface="Times New Roman"/>
                <a:cs typeface="Times New Roman"/>
              </a:rPr>
              <a:t>M</a:t>
            </a:r>
            <a:r>
              <a:rPr sz="2400" b="1" spc="-20" dirty="0" err="1">
                <a:latin typeface="Times New Roman"/>
                <a:cs typeface="Times New Roman"/>
              </a:rPr>
              <a:t>odel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Training: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Training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Random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Forest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 err="1">
                <a:latin typeface="Times New Roman"/>
                <a:cs typeface="Times New Roman"/>
              </a:rPr>
              <a:t>XGBoost</a:t>
            </a:r>
            <a:r>
              <a:rPr lang="en-GB"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segmented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lang="en-GB" sz="2400" spc="-1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320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Evaluation: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accurate.</a:t>
            </a:r>
            <a:endParaRPr lang="en-GB" sz="2400" spc="-1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320"/>
              </a:spcBef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Output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Prediction: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engagement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score.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97259" y="6447704"/>
            <a:ext cx="1778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767676"/>
                </a:solidFill>
                <a:latin typeface="Times New Roman"/>
                <a:cs typeface="Times New Roman"/>
              </a:rPr>
              <a:t>08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5576" y="2612516"/>
            <a:ext cx="777494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0" b="1" spc="-25" dirty="0">
                <a:latin typeface="Times New Roman"/>
                <a:cs typeface="Times New Roman"/>
              </a:rPr>
              <a:t>THANK</a:t>
            </a:r>
            <a:r>
              <a:rPr sz="10000" b="1" spc="-600" dirty="0">
                <a:latin typeface="Times New Roman"/>
                <a:cs typeface="Times New Roman"/>
              </a:rPr>
              <a:t> </a:t>
            </a:r>
            <a:r>
              <a:rPr sz="10000" b="1" spc="-25" dirty="0">
                <a:latin typeface="Times New Roman"/>
                <a:cs typeface="Times New Roman"/>
              </a:rPr>
              <a:t>YOU</a:t>
            </a:r>
            <a:endParaRPr sz="10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396240"/>
            <a:chOff x="-9525" y="-9525"/>
            <a:chExt cx="12211050" cy="396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376936"/>
                  </a:moveTo>
                  <a:lnTo>
                    <a:pt x="12192000" y="37693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7693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377190"/>
            </a:xfrm>
            <a:custGeom>
              <a:avLst/>
              <a:gdLst/>
              <a:ahLst/>
              <a:cxnLst/>
              <a:rect l="l" t="t" r="r" b="b"/>
              <a:pathLst>
                <a:path w="12192000" h="377190">
                  <a:moveTo>
                    <a:pt x="0" y="0"/>
                  </a:moveTo>
                  <a:lnTo>
                    <a:pt x="0" y="376936"/>
                  </a:lnTo>
                  <a:lnTo>
                    <a:pt x="12192000" y="376936"/>
                  </a:lnTo>
                  <a:lnTo>
                    <a:pt x="12192000" y="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SCIENCE</a:t>
            </a:r>
            <a:r>
              <a:rPr spc="-125" dirty="0"/>
              <a:t> </a:t>
            </a:r>
            <a:r>
              <a:rPr dirty="0"/>
              <a:t>AND </a:t>
            </a:r>
            <a:r>
              <a:rPr spc="-10" dirty="0"/>
              <a:t>ENGINEERING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-9523" y="6690104"/>
            <a:ext cx="12211050" cy="177800"/>
            <a:chOff x="-9523" y="6690104"/>
            <a:chExt cx="12211050" cy="177800"/>
          </a:xfrm>
        </p:grpSpPr>
        <p:sp>
          <p:nvSpPr>
            <p:cNvPr id="8" name="object 8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0"/>
                  </a:moveTo>
                  <a:lnTo>
                    <a:pt x="0" y="0"/>
                  </a:lnTo>
                  <a:lnTo>
                    <a:pt x="0" y="158372"/>
                  </a:lnTo>
                  <a:lnTo>
                    <a:pt x="12192000" y="1583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699627"/>
              <a:ext cx="12192000" cy="158750"/>
            </a:xfrm>
            <a:custGeom>
              <a:avLst/>
              <a:gdLst/>
              <a:ahLst/>
              <a:cxnLst/>
              <a:rect l="l" t="t" r="r" b="b"/>
              <a:pathLst>
                <a:path w="12192000" h="158750">
                  <a:moveTo>
                    <a:pt x="12192000" y="158372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58372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12"/>
            <a:ext cx="12192000" cy="377190"/>
            <a:chOff x="0" y="12"/>
            <a:chExt cx="12192000" cy="3771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066799" cy="351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4910" y="50"/>
              <a:ext cx="847090" cy="3768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EngagePredict: Social Media Post Engagement Prediction Using Supervised Machine Learning Techniques</vt:lpstr>
      <vt:lpstr>DEPARTMENT OF COMPUTER SCIENCE AND ENGINEERING</vt:lpstr>
      <vt:lpstr>PROBLEM STATEMENT</vt:lpstr>
      <vt:lpstr>SDG 9 RELEVANCE – INDUSTRY, INNOVATION AND INFRASTRUCTURE</vt:lpstr>
      <vt:lpstr>OBJECTIVES</vt:lpstr>
      <vt:lpstr>DEPARTMENT OF COMPUTER SCIENCE AND ENGINEERING</vt:lpstr>
      <vt:lpstr>DEPARTMENT OF COMPUTER SCIENCE AND ENGINEERING</vt:lpstr>
      <vt:lpstr>METHODOLOGY</vt:lpstr>
      <vt:lpstr>DEPARTMENT OF COMPUTER SCIENCE AND ENGINEERING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 M, Anges Sam</dc:creator>
  <cp:lastModifiedBy>Divith K Rathod</cp:lastModifiedBy>
  <cp:revision>1</cp:revision>
  <dcterms:created xsi:type="dcterms:W3CDTF">2026-03-24T16:21:00Z</dcterms:created>
  <dcterms:modified xsi:type="dcterms:W3CDTF">2026-03-24T16:24:39Z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2026-03-24T00:00:00Z</vt:filetime>
  </property>
  <property fmtid="{D5CDD505-2E9C-101B-9397-08002B2CF9AE}" pid="5" name="Producer">
    <vt:lpwstr>3-Heights(TM) PDF Security Shell 4.8.25.2 (http://www.pdf-tools.com)</vt:lpwstr>
  </property>
</Properties>
</file>